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  <p:sldId id="265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9047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F58EC6-0056-6935-624E-DF0B8FD9F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75551"/>
            <a:ext cx="9144000" cy="21580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1D2116-F7F6-3DAE-E447-DD74BB09E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863" y="576459"/>
            <a:ext cx="1377187" cy="609351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99529B17-AEFC-763C-5787-5D33C01F1371}"/>
              </a:ext>
            </a:extLst>
          </p:cNvPr>
          <p:cNvSpPr/>
          <p:nvPr/>
        </p:nvSpPr>
        <p:spPr>
          <a:xfrm>
            <a:off x="457200" y="207222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PS-23 | RTL </a:t>
            </a:r>
            <a:r>
              <a:rPr lang="en-US" sz="1600" i="1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Design</a:t>
            </a:r>
            <a:r>
              <a:rPr lang="en-US" sz="2000" i="1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 &amp; Formal Verification</a:t>
            </a:r>
            <a:endParaRPr lang="en-US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0C4081A0-5068-7029-127B-CA300C047747}"/>
              </a:ext>
            </a:extLst>
          </p:cNvPr>
          <p:cNvSpPr/>
          <p:nvPr/>
        </p:nvSpPr>
        <p:spPr>
          <a:xfrm>
            <a:off x="457200" y="970671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JasperGold Formal Verification</a:t>
            </a:r>
            <a:endParaRPr lang="en-US" sz="3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31C8A5FC-D9A6-5C2B-07EB-057C39876A79}"/>
              </a:ext>
            </a:extLst>
          </p:cNvPr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8B8B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github.com/vasanthasricharan/JasperGold-Formal-VRF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DC03F587-CD81-DC82-6E34-A7728CF853F8}"/>
              </a:ext>
            </a:extLst>
          </p:cNvPr>
          <p:cNvSpPr/>
          <p:nvPr/>
        </p:nvSpPr>
        <p:spPr>
          <a:xfrm>
            <a:off x="2743200" y="2521808"/>
            <a:ext cx="3657600" cy="3657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solid"/>
          </a:ln>
        </p:spPr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BC663D03-EC36-3B7D-48C8-5D1EC668DF5F}"/>
              </a:ext>
            </a:extLst>
          </p:cNvPr>
          <p:cNvSpPr/>
          <p:nvPr/>
        </p:nvSpPr>
        <p:spPr>
          <a:xfrm>
            <a:off x="2053884" y="3532749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DE8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1. B. Surya Ganesh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BFAA9266-1FAD-40EE-3704-C7F49CDF614C}"/>
              </a:ext>
            </a:extLst>
          </p:cNvPr>
          <p:cNvSpPr/>
          <p:nvPr/>
        </p:nvSpPr>
        <p:spPr>
          <a:xfrm>
            <a:off x="5711484" y="3532749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DE8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2. V. Sri Charan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0483726E-798E-745A-21E4-6A21C8E4361A}"/>
              </a:ext>
            </a:extLst>
          </p:cNvPr>
          <p:cNvSpPr/>
          <p:nvPr/>
        </p:nvSpPr>
        <p:spPr>
          <a:xfrm>
            <a:off x="2053884" y="3852789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DE8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3. T.D.L. Manohar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0F0E400E-C089-1E32-EF93-92BD2451BD75}"/>
              </a:ext>
            </a:extLst>
          </p:cNvPr>
          <p:cNvSpPr/>
          <p:nvPr/>
        </p:nvSpPr>
        <p:spPr>
          <a:xfrm>
            <a:off x="5711484" y="3852789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DE8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4. Naga Durga Srinivas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F09A36D4-A650-DD3D-D24C-47294F87016F}"/>
              </a:ext>
            </a:extLst>
          </p:cNvPr>
          <p:cNvSpPr/>
          <p:nvPr/>
        </p:nvSpPr>
        <p:spPr>
          <a:xfrm>
            <a:off x="2053884" y="4172829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DE8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5. K.L. Kavya Sri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5A19B235-844F-BFF6-23AD-9F5DA72021CA}"/>
              </a:ext>
            </a:extLst>
          </p:cNvPr>
          <p:cNvSpPr/>
          <p:nvPr/>
        </p:nvSpPr>
        <p:spPr>
          <a:xfrm>
            <a:off x="5711484" y="4172829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DE8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6. G. Deevana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5C69A40C-BF1A-56CF-762B-D5AD1138CFAA}"/>
              </a:ext>
            </a:extLst>
          </p:cNvPr>
          <p:cNvSpPr/>
          <p:nvPr/>
        </p:nvSpPr>
        <p:spPr>
          <a:xfrm>
            <a:off x="337624" y="3244607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Team Members</a:t>
            </a:r>
            <a:endParaRPr lang="en-US" sz="1300" dirty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25BBD224-CA19-56B9-3E9C-4E80E1BEFFE4}"/>
              </a:ext>
            </a:extLst>
          </p:cNvPr>
          <p:cNvSpPr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FSM-Based Secure Arithmetic Processing Module</a:t>
            </a:r>
            <a:endParaRPr lang="en-US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608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Problem Statement &amp; Proposed Solution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685799"/>
            <a:ext cx="4023360" cy="3035105"/>
          </a:xfrm>
          <a:prstGeom prst="rect">
            <a:avLst/>
          </a:prstGeom>
          <a:solidFill>
            <a:srgbClr val="FFFFFF"/>
          </a:solidFill>
          <a:ln w="25400">
            <a:solidFill>
              <a:srgbClr val="2196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85800"/>
            <a:ext cx="4023360" cy="41148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THE PROBLEM</a:t>
            </a:r>
            <a:endParaRPr lang="en-US" sz="13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1. Simulation tests only selected input scenarios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2. Corner-case bugs may remain undetected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3. Illegal FSM states not always reachable by testbench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4. Security violations under rare inputs may be missed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5. Deadlock conditions require specific trigger sequences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6. Exhaustive coverage not feasible with directed tests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46320" y="685800"/>
            <a:ext cx="4023360" cy="3035105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685800"/>
            <a:ext cx="4023360" cy="411480"/>
          </a:xfrm>
          <a:prstGeom prst="rect">
            <a:avLst/>
          </a:prstGeom>
          <a:solidFill>
            <a:srgbClr val="1A7A5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THE SOLUTION</a:t>
            </a:r>
            <a:endParaRPr lang="en-US" sz="13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983480" y="118872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1. Formal verification (JasperGold) explores all reachable states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2. Mathematical proof — no counterexample means property holds for ALL inputs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3. 24 SVA assertions cover FSM transitions, outputs, and arithmetic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4. 3 engine types: BMC, K-Induction, ABC run in parallel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5. All 4 FSM states proven reachable via cover analysis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6. Signed arithmetic proven correct for all 4-bit values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Design Overview: 4-State FSM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188720" cy="777240"/>
          </a:xfrm>
          <a:prstGeom prst="ellipse">
            <a:avLst/>
          </a:prstGeom>
          <a:solidFill>
            <a:srgbClr val="0D21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IDLE</a:t>
            </a:r>
            <a:endParaRPr lang="en-US" sz="13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2'b00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103120" y="914400"/>
            <a:ext cx="1188720" cy="777240"/>
          </a:xfrm>
          <a:prstGeom prst="ellipse">
            <a:avLst/>
          </a:prstGeom>
          <a:solidFill>
            <a:srgbClr val="2196B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9601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PROCESS</a:t>
            </a:r>
            <a:endParaRPr lang="en-US" sz="13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103120" y="12984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2'b01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840480" y="685800"/>
            <a:ext cx="1188720" cy="777240"/>
          </a:xfrm>
          <a:prstGeom prst="ellipse">
            <a:avLst/>
          </a:prstGeom>
          <a:solidFill>
            <a:srgbClr val="1A7A5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731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DONE</a:t>
            </a:r>
            <a:endParaRPr lang="en-US" sz="13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40480" y="10698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2'b10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840480" y="2011680"/>
            <a:ext cx="1188720" cy="777240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2057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ERROR</a:t>
            </a:r>
            <a:endParaRPr lang="en-US" sz="13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840480" y="23957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2'b11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554480" y="1298448"/>
            <a:ext cx="548640" cy="0"/>
          </a:xfrm>
          <a:prstGeom prst="line">
            <a:avLst/>
          </a:prstGeom>
          <a:noFill/>
          <a:ln w="25400">
            <a:solidFill>
              <a:srgbClr val="0E8B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10972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8B8B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req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91840" y="1078992"/>
            <a:ext cx="548640" cy="0"/>
          </a:xfrm>
          <a:prstGeom prst="line">
            <a:avLst/>
          </a:prstGeom>
          <a:noFill/>
          <a:ln w="25400">
            <a:solidFill>
              <a:srgbClr val="1A7A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8686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7A50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pwr &amp;&amp; sec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91840" y="1417320"/>
            <a:ext cx="548640" cy="896112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17830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392B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!pwr OR !sec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22960" y="731520"/>
            <a:ext cx="3017520" cy="0"/>
          </a:xfrm>
          <a:prstGeom prst="line">
            <a:avLst/>
          </a:prstGeom>
          <a:noFill/>
          <a:ln w="19050">
            <a:solidFill>
              <a:srgbClr val="0E8B8B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1371600" y="548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8B8B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unconditional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22960" y="2395728"/>
            <a:ext cx="3017520" cy="0"/>
          </a:xfrm>
          <a:prstGeom prst="line">
            <a:avLst/>
          </a:prstGeom>
          <a:noFill/>
          <a:ln w="19050">
            <a:solidFill>
              <a:srgbClr val="0E8B8B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371600" y="2423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8B8B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unconditional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394960" y="640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Key Signals</a:t>
            </a:r>
            <a:endParaRPr lang="en-US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005840"/>
          <a:ext cx="3657600" cy="34747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6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In/Out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1-cycle start pulse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in PROCESS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in DONE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error_flag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in ERROR / fault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opcode[1:0]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00=ADD 01=SUB 10=AND 11=XOR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secure_access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→ ERROR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power_enable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→ ERROR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result[4:0]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Arithmetic result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Verification Methodology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97180" y="594360"/>
            <a:ext cx="4206240" cy="3954780"/>
          </a:xfrm>
          <a:prstGeom prst="rect">
            <a:avLst/>
          </a:prstGeom>
          <a:solidFill>
            <a:srgbClr val="FFFFFF"/>
          </a:solidFill>
          <a:ln w="25400">
            <a:solidFill>
              <a:srgbClr val="2196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594360"/>
            <a:ext cx="4206240" cy="4114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2196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126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Track 1: RTL Simulation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FSM_arithmetic_model_normal_tb.v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Directed: 4 opcodes, boundary values,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  security &amp; power violations, X-state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12 directed tests — 100% pass rate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400"/>
              </a:spcAft>
              <a:buNone/>
            </a:pP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FSM_arithmetic_model_jasper_tb.v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Exhaustive: 4 opcodes × 256 data combos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= 1024 operations + inline SVA checks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0 SVA assertion failures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09160" y="594360"/>
            <a:ext cx="4206240" cy="3936492"/>
          </a:xfrm>
          <a:prstGeom prst="rect">
            <a:avLst/>
          </a:prstGeom>
          <a:solidFill>
            <a:srgbClr val="FFFFFF"/>
          </a:solidFill>
          <a:ln w="25400">
            <a:solidFill>
              <a:srgbClr val="0E8B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594360"/>
            <a:ext cx="4206240" cy="4114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0E8B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6126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Track 2: JasperGold Formal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46320" y="10972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FSM_arithmetic_model.v (RTL DUT)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  `ifdef FORMAL inline SVA block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400"/>
              </a:spcAft>
              <a:buNone/>
            </a:pP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FSM_arithmetic_properties.sv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  bind-based, non-invasive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  17 assertions + 7 covers + 3 assumes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400"/>
              </a:spcAft>
              <a:buNone/>
            </a:pP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jg_run.tcl automation script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  analyze → elaborate → prove → cover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Input Assumptions (Formal Engine Constraints): ASSUME_REQ_PULSE  |  ASSUME_DATA_STABLE_IN_PROCESS  |  ASSUME_CTRL_STABLE_IN_PROCESS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Properties Verified — 24 Assertions, 11 Cover Points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82880" y="594360"/>
            <a:ext cx="27432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196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594360"/>
            <a:ext cx="2743200" cy="365760"/>
          </a:xfrm>
          <a:prstGeom prst="rect">
            <a:avLst/>
          </a:prstGeom>
          <a:solidFill>
            <a:srgbClr val="2196B0"/>
          </a:solidFill>
          <a:ln w="12700">
            <a:solidFill>
              <a:srgbClr val="2196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1264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FSM Transitions (P1–P7)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2606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P1: IDLE→PROCESS on req (K-Ind k=3)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P2: PROCESS→DONE on pwr+sec (K-Ind k=3)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P3: PROCESS→ERROR on !pwr (K-Ind k=3)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P4: PROCESS→ERROR on !sec (K-Ind k=3)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P5: DONE→IDLE unconditional (k=2)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P6: ERROR→IDLE unconditional (k=2)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P7: $rose(rst) |=&gt; IDLE (BMC k=2)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154680" y="594360"/>
            <a:ext cx="27432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E8B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594360"/>
            <a:ext cx="2743200" cy="365760"/>
          </a:xfrm>
          <a:prstGeom prst="rect">
            <a:avLst/>
          </a:prstGeom>
          <a:solidFill>
            <a:srgbClr val="0E8B8B"/>
          </a:solidFill>
          <a:ln w="12700">
            <a:solidFill>
              <a:srgbClr val="0E8B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61264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Output Signals (P8–P13)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46120" y="1005840"/>
            <a:ext cx="2606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P8/P8b: grant ↔ PROCESS (biconditional)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P9/P9b: valid ↔ DONE (biconditional)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P10: (PROCESS &amp;&amp; !sec) → error_flag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P11: (PROCESS &amp;&amp; !pwr) → error_flag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P12: ERROR → error_flag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P13: IDLE → !error_flag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126480" y="594360"/>
            <a:ext cx="27432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594360"/>
            <a:ext cx="2743200" cy="3657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61264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Arithmetic (P14–P17)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17920" y="1005840"/>
            <a:ext cx="2606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P14: ADD result correct (BMC k=1)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P15: SUB signed-safe (BMC k=1)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P16: AND result correct (BMC k=1)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P17: XOR result correct (BMC k=1)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300"/>
              </a:spcAft>
              <a:buNone/>
            </a:pP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All verified for ALL 4-bit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5566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input combinations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82880" y="342900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Cover Points — All 11/11 Reached</a:t>
            </a:r>
            <a:endParaRPr lang="en-US" sz="13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82880" y="3822192"/>
            <a:ext cx="2057400" cy="502920"/>
          </a:xfrm>
          <a:prstGeom prst="rect">
            <a:avLst/>
          </a:prstGeom>
          <a:solidFill>
            <a:schemeClr val="bg1"/>
          </a:solidFill>
          <a:ln w="12700">
            <a:solidFill>
              <a:srgbClr val="1A7A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3822192"/>
            <a:ext cx="2057400" cy="5029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✓ COVER_IDLE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 algn="ctr">
              <a:buNone/>
            </a:pPr>
            <a:r>
              <a:rPr lang="en-US" sz="900" dirty="0"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Witness: 1 cycle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377440" y="3822192"/>
            <a:ext cx="2057400" cy="502920"/>
          </a:xfrm>
          <a:prstGeom prst="rect">
            <a:avLst/>
          </a:prstGeom>
          <a:solidFill>
            <a:schemeClr val="bg1"/>
          </a:solidFill>
          <a:ln w="12700">
            <a:solidFill>
              <a:srgbClr val="1A7A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3822192"/>
            <a:ext cx="2057400" cy="5029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✓ COVER_PROCESS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 algn="ctr">
              <a:buNone/>
            </a:pPr>
            <a:r>
              <a:rPr lang="en-US" sz="900" dirty="0"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Witness: 2 cycles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0" y="3822192"/>
            <a:ext cx="2057400" cy="502920"/>
          </a:xfrm>
          <a:prstGeom prst="rect">
            <a:avLst/>
          </a:prstGeom>
          <a:solidFill>
            <a:schemeClr val="bg1"/>
          </a:solidFill>
          <a:ln w="12700">
            <a:solidFill>
              <a:srgbClr val="1A7A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822192"/>
            <a:ext cx="2057400" cy="5029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✓ COVER_DONE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 algn="ctr">
              <a:buNone/>
            </a:pPr>
            <a:r>
              <a:rPr lang="en-US" sz="900" dirty="0"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Witness: 3 cycles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766560" y="3822192"/>
            <a:ext cx="2057400" cy="502920"/>
          </a:xfrm>
          <a:prstGeom prst="rect">
            <a:avLst/>
          </a:prstGeom>
          <a:solidFill>
            <a:schemeClr val="bg1"/>
          </a:solidFill>
          <a:ln w="12700">
            <a:solidFill>
              <a:srgbClr val="1A7A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3822192"/>
            <a:ext cx="2057400" cy="5029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✓ COVER_ERROR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 algn="ctr">
              <a:buNone/>
            </a:pPr>
            <a:r>
              <a:rPr lang="en-US" sz="900" dirty="0"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Witness: 3 cycles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82880" y="4416552"/>
            <a:ext cx="2057400" cy="502920"/>
          </a:xfrm>
          <a:prstGeom prst="rect">
            <a:avLst/>
          </a:prstGeom>
          <a:solidFill>
            <a:schemeClr val="bg1"/>
          </a:solidFill>
          <a:ln w="12700">
            <a:solidFill>
              <a:srgbClr val="1A7A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4416552"/>
            <a:ext cx="2057400" cy="5029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✓ COVER_HAPPY_PATH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 algn="ctr">
              <a:buNone/>
            </a:pPr>
            <a:r>
              <a:rPr lang="en-US" sz="900" dirty="0"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Witness: 4 cycles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377440" y="4416552"/>
            <a:ext cx="2057400" cy="502920"/>
          </a:xfrm>
          <a:prstGeom prst="rect">
            <a:avLst/>
          </a:prstGeom>
          <a:solidFill>
            <a:schemeClr val="bg1"/>
          </a:solidFill>
          <a:ln w="12700">
            <a:solidFill>
              <a:srgbClr val="1A7A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7440" y="4416552"/>
            <a:ext cx="2057400" cy="5029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✓ COVER_SEC_ERROR_PATH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 algn="ctr">
              <a:buNone/>
            </a:pPr>
            <a:r>
              <a:rPr lang="en-US" sz="900" dirty="0"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Witness: 4 cycles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72000" y="4416552"/>
            <a:ext cx="2057400" cy="502920"/>
          </a:xfrm>
          <a:prstGeom prst="rect">
            <a:avLst/>
          </a:prstGeom>
          <a:solidFill>
            <a:schemeClr val="bg1"/>
          </a:solidFill>
          <a:ln w="12700">
            <a:solidFill>
              <a:srgbClr val="1A7A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4416552"/>
            <a:ext cx="2057400" cy="5029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✓ COVER_PWR_ERROR_PATH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 algn="ctr">
              <a:buNone/>
            </a:pPr>
            <a:r>
              <a:rPr lang="en-US" sz="900" dirty="0"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Witness: 4 cycles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chemeClr val="accent2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JasperGold Session Results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1920240" cy="1188720"/>
          </a:xfrm>
          <a:prstGeom prst="rect">
            <a:avLst/>
          </a:prstGeom>
          <a:solidFill>
            <a:srgbClr val="0D2137"/>
          </a:solidFill>
          <a:ln w="25400">
            <a:solidFill>
              <a:srgbClr val="1A7A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24/24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Assertions Proven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640080"/>
            <a:ext cx="1920240" cy="1188720"/>
          </a:xfrm>
          <a:prstGeom prst="rect">
            <a:avLst/>
          </a:prstGeom>
          <a:solidFill>
            <a:srgbClr val="0D2137"/>
          </a:solidFill>
          <a:ln w="25400">
            <a:solidFill>
              <a:srgbClr val="2196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74980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19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23160" y="1371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Falsified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640080"/>
            <a:ext cx="1920240" cy="1188720"/>
          </a:xfrm>
          <a:prstGeom prst="rect">
            <a:avLst/>
          </a:prstGeom>
          <a:solidFill>
            <a:srgbClr val="0D2137"/>
          </a:solidFill>
          <a:ln w="25400">
            <a:solidFill>
              <a:srgbClr val="0E8B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74980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0" y="1371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 Points Reached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640080"/>
            <a:ext cx="1920240" cy="1188720"/>
          </a:xfrm>
          <a:prstGeom prst="rect">
            <a:avLst/>
          </a:prstGeom>
          <a:solidFill>
            <a:srgbClr val="0D2137"/>
          </a:solidFill>
          <a:ln w="254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74980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20840" y="1371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Proof Depth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1920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Engine Details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86000"/>
          <a:ext cx="4114800" cy="15925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Properties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Depth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BMC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P7–P17 (14 properties)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k=2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K-Induction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P1–P6 + inline FSM (10 properties)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k=3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Combinational corroboration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846320" y="1920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Results</a:t>
            </a:r>
            <a:endParaRPr lang="en-US" sz="13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286000"/>
          <a:ext cx="4023360" cy="15544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Testbench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Tests Run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 TB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directed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Pass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Exhaustive TB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 operations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Pass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SVA (inline)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assertions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Failures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274320" y="39776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Session: </a:t>
            </a:r>
            <a:r>
              <a:rPr lang="en-US" sz="10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JasperGold 2022.09p001  |  </a:t>
            </a:r>
            <a:r>
              <a:rPr lang="en-US" sz="1000" b="1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</a:t>
            </a:r>
            <a:r>
              <a:rPr lang="en-US" sz="10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2024-11-15  |  </a:t>
            </a:r>
            <a:r>
              <a:rPr lang="en-US" sz="1000" b="1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Runtime: </a:t>
            </a:r>
            <a:r>
              <a:rPr lang="en-US" sz="10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seconds  |  </a:t>
            </a:r>
            <a:r>
              <a:rPr lang="en-US" sz="1000" b="1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Memory: </a:t>
            </a:r>
            <a:r>
              <a:rPr lang="en-US" sz="10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312 MB  |  </a:t>
            </a:r>
            <a:r>
              <a:rPr lang="en-US" sz="1000" b="1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CEX files: </a:t>
            </a:r>
            <a:r>
              <a:rPr lang="en-US" sz="10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(no failures)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274320" y="43891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Notable Proven Properties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274320" y="4709160"/>
            <a:ext cx="2057400" cy="384048"/>
          </a:xfrm>
          <a:prstGeom prst="rect">
            <a:avLst/>
          </a:prstGeom>
          <a:solidFill>
            <a:srgbClr val="E8EEF2"/>
          </a:solidFill>
          <a:ln w="12700">
            <a:solidFill>
              <a:srgbClr val="0E8B8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74320" y="470916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P5: DONE→IDLE
</a:t>
            </a:r>
            <a:r>
              <a:rPr lang="en-US" sz="8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deadlock — liveness proven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2468880" y="4709160"/>
            <a:ext cx="2057400" cy="384048"/>
          </a:xfrm>
          <a:prstGeom prst="rect">
            <a:avLst/>
          </a:prstGeom>
          <a:solidFill>
            <a:srgbClr val="E8EEF2"/>
          </a:solidFill>
          <a:ln w="12700">
            <a:solidFill>
              <a:srgbClr val="0E8B8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468880" y="470916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P6: ERROR→IDLE
</a:t>
            </a:r>
            <a:r>
              <a:rPr lang="en-US" sz="8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Auto-recovery — liveness proven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4663440" y="4709160"/>
            <a:ext cx="2057400" cy="384048"/>
          </a:xfrm>
          <a:prstGeom prst="rect">
            <a:avLst/>
          </a:prstGeom>
          <a:solidFill>
            <a:srgbClr val="E8EEF2"/>
          </a:solidFill>
          <a:ln w="12700">
            <a:solidFill>
              <a:srgbClr val="0E8B8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663440" y="470916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P15: SUB_CORRECT
</a:t>
            </a:r>
            <a:r>
              <a:rPr lang="en-US" sz="8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Signed-safe: handles all underflow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858000" y="4709160"/>
            <a:ext cx="2057400" cy="384048"/>
          </a:xfrm>
          <a:prstGeom prst="rect">
            <a:avLst/>
          </a:prstGeom>
          <a:solidFill>
            <a:srgbClr val="E8EEF2"/>
          </a:solidFill>
          <a:ln w="12700">
            <a:solidFill>
              <a:srgbClr val="0E8B8B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858000" y="470916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P10-P11: Error flags
</a:t>
            </a:r>
            <a:r>
              <a:rPr lang="en-US" sz="8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Security/power gating verified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Simulation vs. Formal Verification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94360"/>
          <a:ext cx="8595360" cy="44805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RTL Simulation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96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JasperGold Formal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Coverage scope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Selected test vectors only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reachable states and inputs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Corner-case detection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Depends on testbench quality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Exhaustive — no blind spots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Proof type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pass/fail per run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Mathematical proof for all inputs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Deadlock detection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if test exercises 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Proven unconditionally (P5, P6)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reachability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Depends on stimulus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4 states confirmed (11 covers)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verification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Tested combinations only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conditions proven (P10–P13)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Arithmetic correctness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Sampled values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4-bit values: P14–P17 proven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Seconds (fast)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 seconds (full 24-property proof)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 evidence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Waveform (if tested)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5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VCD counterexample trace (automatic)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8457FDAE-BC10-F54F-BF74-62E78E5FA135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0E8B8B"/>
            </a:solidFill>
            <a:prstDash val="solid"/>
          </a:ln>
        </p:spPr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FD45D93-D1CD-F16F-6AB5-AF5E0C23A464}"/>
              </a:ext>
            </a:extLst>
          </p:cNvPr>
          <p:cNvSpPr/>
          <p:nvPr/>
        </p:nvSpPr>
        <p:spPr>
          <a:xfrm>
            <a:off x="274320" y="640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Conclusion &amp; Future Enhancements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84942E29-C1CE-9B93-36A8-9661CE3ADF14}"/>
              </a:ext>
            </a:extLst>
          </p:cNvPr>
          <p:cNvSpPr/>
          <p:nvPr/>
        </p:nvSpPr>
        <p:spPr>
          <a:xfrm>
            <a:off x="457200" y="6675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Conclusion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16E8D47A-679B-AF8E-D785-26ADEDB7F548}"/>
              </a:ext>
            </a:extLst>
          </p:cNvPr>
          <p:cNvSpPr/>
          <p:nvPr/>
        </p:nvSpPr>
        <p:spPr>
          <a:xfrm>
            <a:off x="457200" y="10058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• All 24 SVA assertion properties proven — 0 counterexamples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• All 11 cover points reached — all 4 FSM states confirmed reachable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• Arithmetic correctness proven for ADD, SUB (signed-safe), AND, XOR across all 4-bit input values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• Deadlock-free liveness proven: both DONE and ERROR auto-return to IDLE unconditionally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• Formal verification provides mathematical certainty that simulation alone cannot deliver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670529ED-159D-6B23-CBF0-134DB5BA4C48}"/>
              </a:ext>
            </a:extLst>
          </p:cNvPr>
          <p:cNvSpPr/>
          <p:nvPr/>
        </p:nvSpPr>
        <p:spPr>
          <a:xfrm>
            <a:off x="274320" y="267004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Future Enhancements</a:t>
            </a:r>
            <a:endParaRPr lang="en-US" sz="13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6380CE68-E38D-2A4F-43A4-5170AA1C3A10}"/>
              </a:ext>
            </a:extLst>
          </p:cNvPr>
          <p:cNvSpPr/>
          <p:nvPr/>
        </p:nvSpPr>
        <p:spPr>
          <a:xfrm>
            <a:off x="274320" y="3035808"/>
            <a:ext cx="2743200" cy="868680"/>
          </a:xfrm>
          <a:prstGeom prst="rect">
            <a:avLst/>
          </a:prstGeom>
          <a:solidFill>
            <a:schemeClr val="bg1"/>
          </a:solidFill>
          <a:ln w="12700">
            <a:solidFill>
              <a:srgbClr val="2196B0"/>
            </a:solidFill>
            <a:prstDash val="solid"/>
          </a:ln>
        </p:spPr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C3C69C4C-C536-0D6C-4461-C34883E0AEF7}"/>
              </a:ext>
            </a:extLst>
          </p:cNvPr>
          <p:cNvSpPr/>
          <p:nvPr/>
        </p:nvSpPr>
        <p:spPr>
          <a:xfrm>
            <a:off x="365760" y="3081528"/>
            <a:ext cx="2560320" cy="7772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8B8B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Width Sweep Regression
</a:t>
            </a:r>
            <a:r>
              <a:rPr lang="en-US" sz="900" dirty="0">
                <a:solidFill>
                  <a:srgbClr val="AACCDD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Re-run full proof for DATA_W = 8, 16, 32 to validate parameterized correctness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565AAD51-09F5-3AD0-068C-605E289114BC}"/>
              </a:ext>
            </a:extLst>
          </p:cNvPr>
          <p:cNvSpPr/>
          <p:nvPr/>
        </p:nvSpPr>
        <p:spPr>
          <a:xfrm>
            <a:off x="3154680" y="3035808"/>
            <a:ext cx="2743200" cy="868680"/>
          </a:xfrm>
          <a:prstGeom prst="rect">
            <a:avLst/>
          </a:prstGeom>
          <a:solidFill>
            <a:schemeClr val="bg1"/>
          </a:solidFill>
          <a:ln w="12700">
            <a:solidFill>
              <a:srgbClr val="2196B0"/>
            </a:solidFill>
            <a:prstDash val="solid"/>
          </a:ln>
        </p:spPr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374366EE-92C5-8192-775C-1FDC891A0DCF}"/>
              </a:ext>
            </a:extLst>
          </p:cNvPr>
          <p:cNvSpPr/>
          <p:nvPr/>
        </p:nvSpPr>
        <p:spPr>
          <a:xfrm>
            <a:off x="3246120" y="3081528"/>
            <a:ext cx="2560320" cy="7772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8B8B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Extended ALU Operations
</a:t>
            </a:r>
            <a:r>
              <a:rPr lang="en-US" sz="900" dirty="0">
                <a:solidFill>
                  <a:srgbClr val="AACCDD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Add MUL or shift ops and write P18/P19 SVA properties for formal proof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3A664410-0901-A82E-27E5-72ACB7ACBBCF}"/>
              </a:ext>
            </a:extLst>
          </p:cNvPr>
          <p:cNvSpPr/>
          <p:nvPr/>
        </p:nvSpPr>
        <p:spPr>
          <a:xfrm>
            <a:off x="6035040" y="3035808"/>
            <a:ext cx="2743200" cy="868680"/>
          </a:xfrm>
          <a:prstGeom prst="rect">
            <a:avLst/>
          </a:prstGeom>
          <a:solidFill>
            <a:schemeClr val="bg1"/>
          </a:solidFill>
          <a:ln w="12700">
            <a:solidFill>
              <a:srgbClr val="2196B0"/>
            </a:solidFill>
            <a:prstDash val="solid"/>
          </a:ln>
        </p:spPr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9A56AAA5-92D0-6837-C19B-CA6874C36299}"/>
              </a:ext>
            </a:extLst>
          </p:cNvPr>
          <p:cNvSpPr/>
          <p:nvPr/>
        </p:nvSpPr>
        <p:spPr>
          <a:xfrm>
            <a:off x="6126480" y="3081528"/>
            <a:ext cx="2560320" cy="7772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8B8B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Multi-cycle PROCESS
</a:t>
            </a:r>
            <a:r>
              <a:rPr lang="en-US" sz="900" dirty="0">
                <a:solidFill>
                  <a:srgbClr val="AACCDD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Extend to N-cycle processing (e.g. pipelined), use ##N SVA temporal operators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BCE6AE87-A0E1-6E82-109A-F4F6103A8084}"/>
              </a:ext>
            </a:extLst>
          </p:cNvPr>
          <p:cNvSpPr/>
          <p:nvPr/>
        </p:nvSpPr>
        <p:spPr>
          <a:xfrm>
            <a:off x="274320" y="4041648"/>
            <a:ext cx="2743200" cy="868680"/>
          </a:xfrm>
          <a:prstGeom prst="rect">
            <a:avLst/>
          </a:prstGeom>
          <a:solidFill>
            <a:schemeClr val="bg1"/>
          </a:solidFill>
          <a:ln w="12700">
            <a:solidFill>
              <a:srgbClr val="2196B0"/>
            </a:solidFill>
            <a:prstDash val="solid"/>
          </a:ln>
        </p:spPr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2F462617-D08D-F1DD-8EE0-810E97DBCD2C}"/>
              </a:ext>
            </a:extLst>
          </p:cNvPr>
          <p:cNvSpPr/>
          <p:nvPr/>
        </p:nvSpPr>
        <p:spPr>
          <a:xfrm>
            <a:off x="365760" y="4087368"/>
            <a:ext cx="2560320" cy="7772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8B8B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Security Confidentiality
</a:t>
            </a:r>
            <a:r>
              <a:rPr lang="en-US" sz="900" dirty="0">
                <a:solidFill>
                  <a:srgbClr val="AACCDD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Prove result=0 when secure_access=0 — information-flow style property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BC36BB0A-C8C2-9373-6995-C6D046EACB6F}"/>
              </a:ext>
            </a:extLst>
          </p:cNvPr>
          <p:cNvSpPr/>
          <p:nvPr/>
        </p:nvSpPr>
        <p:spPr>
          <a:xfrm>
            <a:off x="3154680" y="4041648"/>
            <a:ext cx="2743200" cy="868680"/>
          </a:xfrm>
          <a:prstGeom prst="rect">
            <a:avLst/>
          </a:prstGeom>
          <a:solidFill>
            <a:schemeClr val="bg1"/>
          </a:solidFill>
          <a:ln w="12700">
            <a:solidFill>
              <a:srgbClr val="2196B0"/>
            </a:solidFill>
            <a:prstDash val="solid"/>
          </a:ln>
        </p:spPr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A35317F3-70A0-8B8A-9271-FA4C66F35A7A}"/>
              </a:ext>
            </a:extLst>
          </p:cNvPr>
          <p:cNvSpPr/>
          <p:nvPr/>
        </p:nvSpPr>
        <p:spPr>
          <a:xfrm>
            <a:off x="3246120" y="4087368"/>
            <a:ext cx="2560320" cy="7772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8B8B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Transition Coverage Closure
</a:t>
            </a:r>
            <a:r>
              <a:rPr lang="en-US" sz="900" dirty="0">
                <a:solidFill>
                  <a:srgbClr val="AACCDD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Add all FSM transition cover points to reach 100% transition coverage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26B5A9AA-1318-C629-C0EB-096B3A6E21FD}"/>
              </a:ext>
            </a:extLst>
          </p:cNvPr>
          <p:cNvSpPr/>
          <p:nvPr/>
        </p:nvSpPr>
        <p:spPr>
          <a:xfrm>
            <a:off x="6035040" y="4041648"/>
            <a:ext cx="2743200" cy="868680"/>
          </a:xfrm>
          <a:prstGeom prst="rect">
            <a:avLst/>
          </a:prstGeom>
          <a:solidFill>
            <a:schemeClr val="bg1"/>
          </a:solidFill>
          <a:ln w="12700">
            <a:solidFill>
              <a:srgbClr val="2196B0"/>
            </a:solidFill>
            <a:prstDash val="solid"/>
          </a:ln>
        </p:spPr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B398A91F-ACE7-FE79-9F26-7504F1979384}"/>
              </a:ext>
            </a:extLst>
          </p:cNvPr>
          <p:cNvSpPr/>
          <p:nvPr/>
        </p:nvSpPr>
        <p:spPr>
          <a:xfrm>
            <a:off x="6126480" y="4087368"/>
            <a:ext cx="2560320" cy="7772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8B8B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Concurrent Request Queue
</a:t>
            </a:r>
            <a:r>
              <a:rPr lang="en-US" sz="900" dirty="0">
                <a:solidFill>
                  <a:srgbClr val="AACCDD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Add FIFO-based request queuing and verify ordering/fairness with SVA sequences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347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1218</Words>
  <Application>Microsoft Office PowerPoint</Application>
  <PresentationFormat>On-screen Show (16:9)</PresentationFormat>
  <Paragraphs>221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JasperGold Formal Verification — FSM Secure Arithmetic Module</dc:title>
  <dc:subject>PptxGenJS Presentation</dc:subject>
  <dc:creator>PS-23 Team</dc:creator>
  <cp:lastModifiedBy>23A91A0408</cp:lastModifiedBy>
  <cp:revision>4</cp:revision>
  <dcterms:created xsi:type="dcterms:W3CDTF">2026-05-10T17:36:15Z</dcterms:created>
  <dcterms:modified xsi:type="dcterms:W3CDTF">2026-05-11T06:56:21Z</dcterms:modified>
</cp:coreProperties>
</file>